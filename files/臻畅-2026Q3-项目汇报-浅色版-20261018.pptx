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2127"/>
                </a:solidFill>
                <a:latin typeface="宋体"/>
                <a:ea typeface="宋体"/>
              </a:rPr>
              <a:t>2026 Q3 ·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171A20"/>
                </a:solidFill>
                <a:latin typeface="宋体"/>
                <a:ea typeface="宋体"/>
              </a:rPr>
              <a:t>三季度项目汇报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宋体"/>
                <a:ea typeface="宋体"/>
              </a:rPr>
              <a:t>项目全景 · 定点与量产 · 订单交付 · 风险与四季度计划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4133087"/>
            <a:ext cx="822960" cy="41148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70832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71A20"/>
                </a:solidFill>
                <a:latin typeface="宋体"/>
                <a:ea typeface="宋体"/>
              </a:rPr>
              <a:t>汇报人：曹旭锋（Zane）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2026 年 10 月 18 日     ｜     数据口径：三季度（7/1–9/30）未税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一页看懂三季度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13 个项目在管：量产 6 · 已定点 2 · OTS 1 · 推进中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1720596" cy="1298448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389888"/>
            <a:ext cx="50292" cy="1298448"/>
          </a:xfrm>
          <a:prstGeom prst="rect">
            <a:avLst/>
          </a:prstGeom>
          <a:solidFill>
            <a:srgbClr val="17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36192"/>
            <a:ext cx="144627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1A20"/>
                </a:solidFill>
                <a:latin typeface="宋体"/>
                <a:ea typeface="宋体"/>
              </a:rPr>
              <a:t>13</a:t>
            </a: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29967"/>
            <a:ext cx="144627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宋体"/>
                <a:ea typeface="宋体"/>
              </a:rPr>
              <a:t>在管项目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77440"/>
            <a:ext cx="14462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宋体"/>
                <a:ea typeface="宋体"/>
              </a:rPr>
              <a:t>量产6·定点2·OTS1·推进4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3828" y="1389888"/>
            <a:ext cx="1720596" cy="1298448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3828" y="1389888"/>
            <a:ext cx="50292" cy="12984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4996" y="1536192"/>
            <a:ext cx="144627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A34A"/>
                </a:solidFill>
                <a:latin typeface="宋体"/>
                <a:ea typeface="宋体"/>
              </a:rPr>
              <a:t>4</a:t>
            </a: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4996" y="2029967"/>
            <a:ext cx="144627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宋体"/>
                <a:ea typeface="宋体"/>
              </a:rPr>
              <a:t>Q3 新增定点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4996" y="2377440"/>
            <a:ext cx="14462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宋体"/>
                <a:ea typeface="宋体"/>
              </a:rPr>
              <a:t>ZH5EM·SHD·ROX MY26·S56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0728" y="1389888"/>
            <a:ext cx="1720596" cy="1298448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0728" y="1389888"/>
            <a:ext cx="50292" cy="12984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1896" y="1536192"/>
            <a:ext cx="144627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A34A"/>
                </a:solidFill>
                <a:latin typeface="宋体"/>
                <a:ea typeface="宋体"/>
              </a:rPr>
              <a:t>2</a:t>
            </a: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 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1896" y="2029967"/>
            <a:ext cx="144627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宋体"/>
                <a:ea typeface="宋体"/>
              </a:rPr>
              <a:t>Q3 新增 SOP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1896" y="2377440"/>
            <a:ext cx="14462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宋体"/>
                <a:ea typeface="宋体"/>
              </a:rPr>
              <a:t>VFe32 7/31·BC03 8/3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7628" y="1389888"/>
            <a:ext cx="1720596" cy="1298448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7628" y="1389888"/>
            <a:ext cx="50292" cy="1298448"/>
          </a:xfrm>
          <a:prstGeom prst="rect">
            <a:avLst/>
          </a:prstGeom>
          <a:solidFill>
            <a:srgbClr val="17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536192"/>
            <a:ext cx="144627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1A20"/>
                </a:solidFill>
                <a:latin typeface="宋体"/>
                <a:ea typeface="宋体"/>
              </a:rPr>
              <a:t>91</a:t>
            </a: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 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2029967"/>
            <a:ext cx="144627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宋体"/>
                <a:ea typeface="宋体"/>
              </a:rPr>
              <a:t>在册零件（明细）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2377440"/>
            <a:ext cx="14462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宋体"/>
                <a:ea typeface="宋体"/>
              </a:rPr>
              <a:t>自制+外协，供应商可追溯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4527" y="1389888"/>
            <a:ext cx="1720596" cy="1298448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4527" y="1389888"/>
            <a:ext cx="50292" cy="12984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5695" y="1536192"/>
            <a:ext cx="144627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D4ED8"/>
                </a:solidFill>
                <a:latin typeface="宋体"/>
                <a:ea typeface="宋体"/>
              </a:rPr>
              <a:t>916,915</a:t>
            </a: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 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695" y="2029967"/>
            <a:ext cx="144627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宋体"/>
                <a:ea typeface="宋体"/>
              </a:rPr>
              <a:t>Q3 订单数量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5695" y="2377440"/>
            <a:ext cx="14462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宋体"/>
                <a:ea typeface="宋体"/>
              </a:rPr>
              <a:t>98 行 PO / 7 个件号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01427" y="1389888"/>
            <a:ext cx="1720596" cy="1298448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01427" y="1389888"/>
            <a:ext cx="50292" cy="1298448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2595" y="1536192"/>
            <a:ext cx="1446276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82127"/>
                </a:solidFill>
                <a:latin typeface="宋体"/>
                <a:ea typeface="宋体"/>
              </a:rPr>
              <a:t>40.18</a:t>
            </a: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 万元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2595" y="2029967"/>
            <a:ext cx="144627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宋体"/>
                <a:ea typeface="宋体"/>
              </a:rPr>
              <a:t>Q3 订单含税金额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2595" y="2377440"/>
            <a:ext cx="14462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宋体"/>
                <a:ea typeface="宋体"/>
              </a:rPr>
              <a:t>含 S56 首单 2.32 万（10/18 定价）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2962656"/>
            <a:ext cx="3563112" cy="2331720"/>
          </a:xfrm>
          <a:prstGeom prst="rect">
            <a:avLst/>
          </a:prstGeom>
          <a:solidFill>
            <a:srgbClr val="E7F6EC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2962656"/>
            <a:ext cx="3563112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3163824"/>
            <a:ext cx="3105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A20"/>
                </a:solidFill>
                <a:latin typeface="宋体"/>
                <a:ea typeface="宋体"/>
              </a:rPr>
              <a:t>最大成果：Q3 拿下 4 个定点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3621024"/>
            <a:ext cx="310591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ZH5EM（上汽前舱储物盒 10 件）、SHD（上汽毛毡 1 件）、ROX MY26（极石端盖 2 件）、S56（奇瑞 X3/X3L 吸音棉 14 件）。其中 S56 年均 5 万套、EOP 2029.12，是明年主要增量。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2920" y="2962656"/>
            <a:ext cx="3563112" cy="2331720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12920" y="2962656"/>
            <a:ext cx="3563112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0664" y="3163824"/>
            <a:ext cx="3105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A20"/>
                </a:solidFill>
                <a:latin typeface="宋体"/>
                <a:ea typeface="宋体"/>
              </a:rPr>
              <a:t>收入结构：仍高度集中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0664" y="3621024"/>
            <a:ext cx="310591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LEV1 17.97 万（44.7%）+ VFe32 9.88 万（24.6%）= 69.3%；EHEA 7.77 万（19.3%）已开始批量，S56 定价后进账 2.32 万（5.8%）。三者合计 93.6%。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8911" y="2962656"/>
            <a:ext cx="3563112" cy="2331720"/>
          </a:xfrm>
          <a:prstGeom prst="rect">
            <a:avLst/>
          </a:prstGeom>
          <a:solidFill>
            <a:srgbClr val="FDE9EA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58911" y="2962656"/>
            <a:ext cx="3563112" cy="45720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6655" y="3163824"/>
            <a:ext cx="3105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A20"/>
                </a:solidFill>
                <a:latin typeface="宋体"/>
                <a:ea typeface="宋体"/>
              </a:rPr>
              <a:t>最大隐患：EHEA 质量 + 供应商未定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6655" y="3621024"/>
            <a:ext cx="310591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EHEA 9/23 出货排定备注「目前有大质量问题」，涉 562,077 件；ZH5EM 10 件供应商待采购确认。ROX01 与 S56 价格均已落地（10/18）。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Q3 四个新定点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全部在三季度内落地：8/27 两个、9/1 一个、9/16 一个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541782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389888"/>
            <a:ext cx="45720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49606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A20"/>
                </a:solidFill>
                <a:latin typeface="宋体"/>
                <a:ea typeface="宋体"/>
              </a:rPr>
              <a:t>ZH5EM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49606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2127"/>
                </a:solidFill>
                <a:latin typeface="宋体"/>
                <a:ea typeface="宋体"/>
              </a:rPr>
              <a:t>凯华 → 上汽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49606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前舱储物盒 · 10 件（8 泡棉 + 2 蘑菇塔扣）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8"/>
            <a:ext cx="49606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8/27 客户定点；外协询价与送样启动（泡棉-宁波互盛、塔扣-惠州兰谷）；项目经理陈阳已建 CAMDS 零件信息；供应商待采购确认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4548" y="15910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定点日 2026-08-27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4204" y="1389888"/>
            <a:ext cx="541782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4204" y="1389888"/>
            <a:ext cx="45720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0236" y="1572768"/>
            <a:ext cx="49606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A20"/>
                </a:solidFill>
                <a:latin typeface="宋体"/>
                <a:ea typeface="宋体"/>
              </a:rPr>
              <a:t>SHD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0236" y="1956816"/>
            <a:ext cx="49606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2127"/>
                </a:solidFill>
                <a:latin typeface="宋体"/>
                <a:ea typeface="宋体"/>
              </a:rPr>
              <a:t>凯华 → 上汽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258568"/>
            <a:ext cx="49606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密封板毛毡 · 1 件（12478375-1）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624328"/>
            <a:ext cx="49606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8/27 客户定点；OTS 250 套样品已完成送样；正在排测试计划，待内部安排测试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1824" y="15910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定点日 2026-08-27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85616"/>
            <a:ext cx="541782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785616"/>
            <a:ext cx="45720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68496"/>
            <a:ext cx="49606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A20"/>
                </a:solidFill>
                <a:latin typeface="宋体"/>
                <a:ea typeface="宋体"/>
              </a:rPr>
              <a:t>ROX MY26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52544"/>
            <a:ext cx="49606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2127"/>
                </a:solidFill>
                <a:latin typeface="宋体"/>
                <a:ea typeface="宋体"/>
              </a:rPr>
              <a:t>浙江凯华 → 极石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54296"/>
            <a:ext cx="49606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左右端盖板吸音棉 · 2 件（15200958AA / 15200961AA）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0056"/>
            <a:ext cx="49606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9/1 内部定点：左 0.3097 / 右 0.3009 未税，利润率 12.83% / 23.56%；自制·上海泰瑞，11 月开始 SOP 交付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4548" y="3986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定点日 2026-09-01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4204" y="3785616"/>
            <a:ext cx="5417820" cy="2194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04204" y="3785616"/>
            <a:ext cx="45720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3968496"/>
            <a:ext cx="49606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1A20"/>
                </a:solidFill>
                <a:latin typeface="宋体"/>
                <a:ea typeface="宋体"/>
              </a:rPr>
              <a:t>S56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352544"/>
            <a:ext cx="49606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2127"/>
                </a:solidFill>
                <a:latin typeface="宋体"/>
                <a:ea typeface="宋体"/>
              </a:rPr>
              <a:t>浙江凯华 → 奇瑞 X3/X3L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0236" y="4654296"/>
            <a:ext cx="49606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PP/PET 吸音棉 · 14 件（51-12723 已取消，实际 13 件）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0236" y="5020056"/>
            <a:ext cx="49606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9/16 内部定点：年均 5 万套、EOP 2029.12；报价按统一毛利率 22.31%（年净利约 20 万）；9/18 已出 5 个件号共 25 件样品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21824" y="3986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定点日 2026-09-16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量产项目：6 个（Q3 订单主体）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内部状态「交付量产」= 是：BC03、LEV1；否：VFe32、S56、EHEA、ROX01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89888"/>
            <a:ext cx="11055096" cy="402336"/>
          </a:xfrm>
          <a:prstGeom prst="rect">
            <a:avLst/>
          </a:prstGeom>
          <a:solidFill>
            <a:srgbClr val="17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81328"/>
            <a:ext cx="9692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1481328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1481328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车型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4813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零件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481328"/>
            <a:ext cx="7863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交付量产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481328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Q3 订单(含税)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7" y="148132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占比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481328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宋体"/>
                <a:ea typeface="宋体"/>
              </a:rPr>
              <a:t>Q3 关键动作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792224"/>
            <a:ext cx="11055096" cy="621792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1938528"/>
            <a:ext cx="96926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BC03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1938528"/>
            <a:ext cx="1024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凯华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1938528"/>
            <a:ext cx="14813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VINFAST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1938528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1938528"/>
            <a:ext cx="7863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宋体"/>
                <a:ea typeface="宋体"/>
              </a:rPr>
              <a:t>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938528"/>
            <a:ext cx="12435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14,164.80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1938528"/>
            <a:ext cx="5669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3.7%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1938528"/>
            <a:ext cx="33558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8/3 SOP；合同确认、对账开票中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414016"/>
            <a:ext cx="11055096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2560320"/>
            <a:ext cx="96926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LEV1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92224" y="2560320"/>
            <a:ext cx="1024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凯华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2656" y="2560320"/>
            <a:ext cx="14813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VF-LIMO7 RHD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560320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2560320"/>
            <a:ext cx="7863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宋体"/>
                <a:ea typeface="宋体"/>
              </a:rPr>
              <a:t>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560320"/>
            <a:ext cx="12435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179,659.14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7" y="2560320"/>
            <a:ext cx="5669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47.5%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560320"/>
            <a:ext cx="33558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量产对账；四件诚丰外协 + 挡脚板泰瑞自制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035808"/>
            <a:ext cx="11055096" cy="621792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182112"/>
            <a:ext cx="96926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VFe32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92224" y="3182112"/>
            <a:ext cx="1024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凯华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62656" y="3182112"/>
            <a:ext cx="14813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VINFAST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3182112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792" y="3182112"/>
            <a:ext cx="7863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宋体"/>
                <a:ea typeface="宋体"/>
              </a:rPr>
              <a:t>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182112"/>
            <a:ext cx="12435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98,826.72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6367" y="3182112"/>
            <a:ext cx="5669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26.1%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3182112"/>
            <a:ext cx="33558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7/31 切换件 SOP；9/4 叫停 9/20 已解除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657600"/>
            <a:ext cx="11055096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3803904"/>
            <a:ext cx="96926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S56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2224" y="3803904"/>
            <a:ext cx="1024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浙江凯华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3803904"/>
            <a:ext cx="14813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奇瑞 X3/X3L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0288" y="3803904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93792" y="3803904"/>
            <a:ext cx="7863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宋体"/>
                <a:ea typeface="宋体"/>
              </a:rPr>
              <a:t>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3803904"/>
            <a:ext cx="12435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23,239.66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6367" y="3803904"/>
            <a:ext cx="5669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5.8%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9" y="3803904"/>
            <a:ext cx="33558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9/16 定点；10/18 出价（套含税19.29/毛利18.4%）；首单已定价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279392"/>
            <a:ext cx="11055096" cy="621792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425696"/>
            <a:ext cx="96926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EHEA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92224" y="4425696"/>
            <a:ext cx="1024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凯华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62656" y="4425696"/>
            <a:ext cx="14813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海豹06GT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0288" y="4425696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93792" y="4425696"/>
            <a:ext cx="7863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宋体"/>
                <a:ea typeface="宋体"/>
              </a:rPr>
              <a:t>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4425696"/>
            <a:ext cx="12435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77,697.31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16367" y="4425696"/>
            <a:ext cx="5669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20.5%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9" y="4425696"/>
            <a:ext cx="33558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样品认证合格；562,077 件分 9/28、10/5 两批交付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901183"/>
            <a:ext cx="11055096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5047488"/>
            <a:ext cx="96926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ROX01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92224" y="5047488"/>
            <a:ext cx="1024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凯华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62656" y="5047488"/>
            <a:ext cx="14813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极石01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90288" y="5047488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93792" y="5047488"/>
            <a:ext cx="7863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宋体"/>
                <a:ea typeface="宋体"/>
              </a:rPr>
              <a:t>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5047488"/>
            <a:ext cx="1243584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7,830.00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7" y="5047488"/>
            <a:ext cx="5669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1A20"/>
                </a:solidFill>
                <a:latin typeface="宋体"/>
                <a:ea typeface="宋体"/>
              </a:rPr>
              <a:t>2.1%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599" y="5047488"/>
            <a:ext cx="335584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已定点定价；批量交付中；套含税 4.10、毛利 11.0%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5650991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注：订单金额取看板 PO 台账按 PO 日期 7/1–9/30 汇总（98 行 / 916,915 件 / 含税 ¥378,522.97）。S56 首单 PO4500127228 共 7 行、12,040 件已按 10/18 价格表回填含税 ¥23,239.66。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推进中：4 个项目（四季度增量来源）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OTS 1 个单列：ROX MY26 已定点、11 月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264033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2640330" cy="4572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00784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20"/>
                </a:solidFill>
                <a:latin typeface="宋体"/>
                <a:ea typeface="宋体"/>
              </a:rPr>
              <a:t>T12T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凯华 → 奇瑞 QQ5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B7280"/>
                </a:solidFill>
                <a:latin typeface="宋体"/>
                <a:ea typeface="宋体"/>
              </a:rPr>
              <a:t>10 件（吸音棉 7 + 毛毡 3）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907792"/>
            <a:ext cx="2237994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054096"/>
            <a:ext cx="227457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当前进展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71A20"/>
                </a:solidFill>
                <a:latin typeface="宋体"/>
                <a:ea typeface="宋体"/>
              </a:rPr>
              <a:t>成本表已出并报价凯华，等待最后一轮核价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133087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下一步：</a:t>
            </a:r>
            <a:r>
              <a:rPr sz="960" b="1">
                <a:solidFill>
                  <a:srgbClr val="171A20"/>
                </a:solidFill>
                <a:latin typeface="宋体"/>
                <a:ea typeface="宋体"/>
              </a:rPr>
              <a:t>SOP 2027.3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8578" y="1700784"/>
            <a:ext cx="658368" cy="237744"/>
          </a:xfrm>
          <a:prstGeom prst="rect">
            <a:avLst/>
          </a:prstGeom>
          <a:solidFill>
            <a:srgbClr val="F6F7F9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8578" y="1746504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46A00"/>
                </a:solidFill>
                <a:latin typeface="宋体"/>
                <a:ea typeface="宋体"/>
              </a:rPr>
              <a:t>核价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1850" y="1481328"/>
            <a:ext cx="264033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1850" y="1481328"/>
            <a:ext cx="2640330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3018" y="1700784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20"/>
                </a:solidFill>
                <a:latin typeface="宋体"/>
                <a:ea typeface="宋体"/>
              </a:rPr>
              <a:t>CX835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3018" y="208483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凯华 → 长安福特烈马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B7280"/>
                </a:solidFill>
                <a:latin typeface="宋体"/>
                <a:ea typeface="宋体"/>
              </a:rPr>
              <a:t>4 件吸音棉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73018" y="2907792"/>
            <a:ext cx="2237994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3018" y="3054096"/>
            <a:ext cx="227457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当前进展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71A20"/>
                </a:solidFill>
                <a:latin typeface="宋体"/>
                <a:ea typeface="宋体"/>
              </a:rPr>
              <a:t>8/26 客户询价、内部启动；车型暂无量，暂缓推进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018" y="4133087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下一步：</a:t>
            </a:r>
            <a:r>
              <a:rPr sz="960" b="1">
                <a:solidFill>
                  <a:srgbClr val="171A20"/>
                </a:solidFill>
                <a:latin typeface="宋体"/>
                <a:ea typeface="宋体"/>
              </a:rPr>
              <a:t>等技术要求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3500" y="1700784"/>
            <a:ext cx="658368" cy="237744"/>
          </a:xfrm>
          <a:prstGeom prst="rect">
            <a:avLst/>
          </a:prstGeom>
          <a:solidFill>
            <a:srgbClr val="F6F7F9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3500" y="1746504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宋体"/>
                <a:ea typeface="宋体"/>
              </a:rPr>
              <a:t>暂缓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772" y="1481328"/>
            <a:ext cx="264033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6772" y="1481328"/>
            <a:ext cx="264033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7940" y="1700784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20"/>
                </a:solidFill>
                <a:latin typeface="宋体"/>
                <a:ea typeface="宋体"/>
              </a:rPr>
              <a:t>VFe32-3M 胶带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7940" y="208483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凯华 → VINFAST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B7280"/>
                </a:solidFill>
                <a:latin typeface="宋体"/>
                <a:ea typeface="宋体"/>
              </a:rPr>
              <a:t>3M 海绵胶 16 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7940" y="2907792"/>
            <a:ext cx="2237994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7940" y="3054096"/>
            <a:ext cx="227457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当前进展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71A20"/>
                </a:solidFill>
                <a:latin typeface="宋体"/>
                <a:ea typeface="宋体"/>
              </a:rPr>
              <a:t>7/28 图纸已收到；准备供小样 20 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7940" y="4133087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下一步：</a:t>
            </a:r>
            <a:r>
              <a:rPr sz="960" b="1">
                <a:solidFill>
                  <a:srgbClr val="171A20"/>
                </a:solidFill>
                <a:latin typeface="宋体"/>
                <a:ea typeface="宋体"/>
              </a:rPr>
              <a:t>小样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8422" y="1700784"/>
            <a:ext cx="658368" cy="237744"/>
          </a:xfrm>
          <a:prstGeom prst="rect">
            <a:avLst/>
          </a:prstGeom>
          <a:solidFill>
            <a:srgbClr val="F6F7F9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8422" y="1746504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D4ED8"/>
                </a:solidFill>
                <a:latin typeface="宋体"/>
                <a:ea typeface="宋体"/>
              </a:rPr>
              <a:t>送样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1694" y="1481328"/>
            <a:ext cx="2640330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81694" y="1481328"/>
            <a:ext cx="2640330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2862" y="1700784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1A20"/>
                </a:solidFill>
                <a:latin typeface="宋体"/>
                <a:ea typeface="宋体"/>
              </a:rPr>
              <a:t>BS5PR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2862" y="208483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海泰 → 智己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B7280"/>
                </a:solidFill>
                <a:latin typeface="宋体"/>
                <a:ea typeface="宋体"/>
              </a:rPr>
              <a:t>泡棉定位销 1 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2862" y="2907792"/>
            <a:ext cx="2237994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2862" y="3054096"/>
            <a:ext cx="227457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当前进展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71A20"/>
                </a:solidFill>
                <a:latin typeface="宋体"/>
                <a:ea typeface="宋体"/>
              </a:rPr>
              <a:t>10/10 发起定点询价；10/13 内部完成成本核算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2862" y="4133087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B7280"/>
                </a:solidFill>
                <a:latin typeface="宋体"/>
                <a:ea typeface="宋体"/>
              </a:rPr>
              <a:t>下一步：</a:t>
            </a:r>
            <a:r>
              <a:rPr sz="960" b="1">
                <a:solidFill>
                  <a:srgbClr val="171A20"/>
                </a:solidFill>
                <a:latin typeface="宋体"/>
                <a:ea typeface="宋体"/>
              </a:rPr>
              <a:t>获取对方目标价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53344" y="1700784"/>
            <a:ext cx="658368" cy="237744"/>
          </a:xfrm>
          <a:prstGeom prst="rect">
            <a:avLst/>
          </a:prstGeom>
          <a:solidFill>
            <a:srgbClr val="F6F7F9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53344" y="1746504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D4ED8"/>
                </a:solidFill>
                <a:latin typeface="宋体"/>
                <a:ea typeface="宋体"/>
              </a:rPr>
              <a:t>报价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956048"/>
            <a:ext cx="11055096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判断：</a:t>
            </a:r>
            <a:r>
              <a:rPr sz="1000" b="0">
                <a:solidFill>
                  <a:srgbClr val="6B7280"/>
                </a:solidFill>
                <a:latin typeface="宋体"/>
                <a:ea typeface="宋体"/>
              </a:rPr>
              <a:t>四个项目都还停在「报价/核价/送样」段，Q3 未产生收入。T12T 与 BS5PR 最接近落地（均已报价或完成成本核算），CX835 因车型无量建议降优先级。VFe32-3M 胶带是现有客户内的品类扩展，样品阶段成本低、值得推。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Q3 大事记（7–9 月，节选 10 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完整 36 条见《臻畅-2026Q3-项目汇总-20261018.xlsx》「03_Q3大事记」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8256" y="1563624"/>
            <a:ext cx="20116" cy="4375404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07-15</a:t>
            </a:r>
          </a:p>
        </p:txBody>
      </p:sp>
      <p:sp>
        <p:nvSpPr>
          <p:cNvPr id="11" name="Oval 10"/>
          <p:cNvSpPr/>
          <p:nvPr/>
        </p:nvSpPr>
        <p:spPr>
          <a:xfrm>
            <a:off x="1984248" y="152704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141732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VFe32 客户定点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156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07-31</a:t>
            </a:r>
          </a:p>
        </p:txBody>
      </p:sp>
      <p:sp>
        <p:nvSpPr>
          <p:cNvPr id="14" name="Oval 13"/>
          <p:cNvSpPr/>
          <p:nvPr/>
        </p:nvSpPr>
        <p:spPr>
          <a:xfrm>
            <a:off x="1984248" y="200710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189738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VFe32 SOP 量产（切换件）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08-03</a:t>
            </a:r>
          </a:p>
        </p:txBody>
      </p:sp>
      <p:sp>
        <p:nvSpPr>
          <p:cNvPr id="17" name="Oval 16"/>
          <p:cNvSpPr/>
          <p:nvPr/>
        </p:nvSpPr>
        <p:spPr>
          <a:xfrm>
            <a:off x="1984248" y="248716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" y="237744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BC03 SOP 量产，首批 248 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8757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08-20</a:t>
            </a:r>
          </a:p>
        </p:txBody>
      </p:sp>
      <p:sp>
        <p:nvSpPr>
          <p:cNvPr id="20" name="Oval 19"/>
          <p:cNvSpPr/>
          <p:nvPr/>
        </p:nvSpPr>
        <p:spPr>
          <a:xfrm>
            <a:off x="1984248" y="296722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285750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ROX01 客户询价，内部启动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3558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08-27</a:t>
            </a:r>
          </a:p>
        </p:txBody>
      </p:sp>
      <p:sp>
        <p:nvSpPr>
          <p:cNvPr id="23" name="Oval 22"/>
          <p:cNvSpPr/>
          <p:nvPr/>
        </p:nvSpPr>
        <p:spPr>
          <a:xfrm>
            <a:off x="1984248" y="344728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0008" y="333756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ZH5EM、SHD 同日定点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835907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09-01</a:t>
            </a:r>
          </a:p>
        </p:txBody>
      </p:sp>
      <p:sp>
        <p:nvSpPr>
          <p:cNvPr id="26" name="Oval 25"/>
          <p:cNvSpPr/>
          <p:nvPr/>
        </p:nvSpPr>
        <p:spPr>
          <a:xfrm>
            <a:off x="1984248" y="392734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0008" y="381762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ROX MY26 内部定点（左 0.3097 / 右 0.3009 未税）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159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09-12</a:t>
            </a:r>
          </a:p>
        </p:txBody>
      </p:sp>
      <p:sp>
        <p:nvSpPr>
          <p:cNvPr id="29" name="Oval 28"/>
          <p:cNvSpPr/>
          <p:nvPr/>
        </p:nvSpPr>
        <p:spPr>
          <a:xfrm>
            <a:off x="1984248" y="440740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0008" y="429768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EHEA 样品认证合格，启动拉动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7960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09-16</a:t>
            </a:r>
          </a:p>
        </p:txBody>
      </p:sp>
      <p:sp>
        <p:nvSpPr>
          <p:cNvPr id="32" name="Oval 31"/>
          <p:cNvSpPr/>
          <p:nvPr/>
        </p:nvSpPr>
        <p:spPr>
          <a:xfrm>
            <a:off x="1984248" y="488746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0008" y="477774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S56 内部定点：14 件 / 年均 5 万套 / EOP 2029.12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276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09-18</a:t>
            </a:r>
          </a:p>
        </p:txBody>
      </p:sp>
      <p:sp>
        <p:nvSpPr>
          <p:cNvPr id="35" name="Oval 34"/>
          <p:cNvSpPr/>
          <p:nvPr/>
        </p:nvSpPr>
        <p:spPr>
          <a:xfrm>
            <a:off x="1984248" y="536752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008" y="525780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171A20"/>
                </a:solidFill>
                <a:latin typeface="宋体"/>
                <a:ea typeface="宋体"/>
              </a:rPr>
              <a:t>S56 5 个件号 25 件样品；51-12723 取消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7561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71A20"/>
                </a:solidFill>
                <a:latin typeface="宋体"/>
                <a:ea typeface="宋体"/>
              </a:rPr>
              <a:t>09-23</a:t>
            </a:r>
          </a:p>
        </p:txBody>
      </p:sp>
      <p:sp>
        <p:nvSpPr>
          <p:cNvPr id="38" name="Oval 37"/>
          <p:cNvSpPr/>
          <p:nvPr/>
        </p:nvSpPr>
        <p:spPr>
          <a:xfrm>
            <a:off x="1984248" y="5847588"/>
            <a:ext cx="182880" cy="182880"/>
          </a:xfrm>
          <a:prstGeom prst="ellipse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0008" y="5737860"/>
            <a:ext cx="8412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E82127"/>
                </a:solidFill>
                <a:latin typeface="宋体"/>
                <a:ea typeface="宋体"/>
              </a:rPr>
              <a:t>EHEA 562,077 件分批出货排定（⚠️ 大质量问题）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02367" y="1481328"/>
            <a:ext cx="1828800" cy="3246120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1664208"/>
            <a:ext cx="150876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Q3 三个节点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新定点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2127"/>
                </a:solidFill>
                <a:latin typeface="宋体"/>
                <a:ea typeface="宋体"/>
              </a:rPr>
              <a:t>4 个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新 SOP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2127"/>
                </a:solidFill>
                <a:latin typeface="宋体"/>
                <a:ea typeface="宋体"/>
              </a:rPr>
              <a:t>2 个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节点总数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E82127"/>
                </a:solidFill>
                <a:latin typeface="宋体"/>
                <a:ea typeface="宋体"/>
              </a:rPr>
              <a:t>36 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Q3 订单结构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98 行 PO / 916,915 件 / 含税 ¥401,762.63（按 PO 日期 7/1–9/30）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1848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LEV1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7048" y="1572768"/>
            <a:ext cx="5486400" cy="21945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3176" y="152704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179,659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830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87,498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30552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VFe32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7048" y="2084832"/>
            <a:ext cx="3017953" cy="21945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729" y="203911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98,827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29514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219,352 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4261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EHEA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27048" y="2596896"/>
            <a:ext cx="2372707" cy="21945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9483" y="255117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77,697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280720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562,077 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5468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BC03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7048" y="3108960"/>
            <a:ext cx="432562" cy="219456"/>
          </a:xfrm>
          <a:prstGeom prst="rect">
            <a:avLst/>
          </a:prstGeom>
          <a:solidFill>
            <a:srgbClr val="F0A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69338" y="30632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14,165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319272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5,448 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66674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S56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7048" y="3621024"/>
            <a:ext cx="709688" cy="219456"/>
          </a:xfrm>
          <a:prstGeom prst="rect">
            <a:avLst/>
          </a:prstGeom>
          <a:solidFill>
            <a:srgbClr val="F0A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6464" y="357530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23,240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83133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12,040 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17880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ROX01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7048" y="4133087"/>
            <a:ext cx="239111" cy="219456"/>
          </a:xfrm>
          <a:prstGeom prst="rect">
            <a:avLst/>
          </a:prstGeom>
          <a:solidFill>
            <a:srgbClr val="F0A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5887" y="40873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7,830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434340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29,500 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690872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71A20"/>
                </a:solidFill>
                <a:latin typeface="宋体"/>
                <a:ea typeface="宋体"/>
              </a:rPr>
              <a:t>ROX MY26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7048" y="4645152"/>
            <a:ext cx="27432" cy="219456"/>
          </a:xfrm>
          <a:prstGeom prst="rect">
            <a:avLst/>
          </a:prstGeom>
          <a:solidFill>
            <a:srgbClr val="F0A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64207" y="459943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71A20"/>
                </a:solidFill>
                <a:latin typeface="宋体"/>
                <a:ea typeface="宋体"/>
              </a:rPr>
              <a:t>345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485546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0">
                <a:solidFill>
                  <a:srgbClr val="6B7280"/>
                </a:solidFill>
                <a:latin typeface="宋体"/>
                <a:ea typeface="宋体"/>
              </a:rPr>
              <a:t>1,000 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96528" y="1481328"/>
            <a:ext cx="2825496" cy="3566160"/>
          </a:xfrm>
          <a:prstGeom prst="rect">
            <a:avLst/>
          </a:prstGeom>
          <a:solidFill>
            <a:srgbClr val="FDE9EA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1664208"/>
            <a:ext cx="237744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71A20"/>
                </a:solidFill>
                <a:latin typeface="宋体"/>
                <a:ea typeface="宋体"/>
              </a:rPr>
              <a:t>三个事实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① 集中度极高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LEV1 + VFe32 = 27.85 万，占 69.3%。任一项目掉量，季度收入立刻失血。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② EHEA 量最大、额第三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562,077 件占总量 61%，但单价低（合计 7.77 万，单件约 0.14 元），是典型的走量件。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2127"/>
                </a:solidFill>
                <a:latin typeface="宋体"/>
                <a:ea typeface="宋体"/>
              </a:rPr>
              <a:t>③ S56 已定价进账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10/18 价格表落地，首单 12,040 件计入 2.32 万；Q4 起按年均 5 万套放大。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6B7280"/>
                </a:solidFill>
                <a:latin typeface="宋体"/>
                <a:ea typeface="宋体"/>
              </a:rPr>
              <a:t>注：金额与数量取自看板 PO 台账（orders_data.json）按 PO 日期汇总；ROX MY26 为 OTS 阶段首批，量小。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问题与风险（按影响排序）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前三条需要在本周内闭环，否则影响四季度收入确认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1105509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371600"/>
            <a:ext cx="50292" cy="877824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17904"/>
            <a:ext cx="475488" cy="274320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45336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4813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1">
                <a:solidFill>
                  <a:srgbClr val="171A20"/>
                </a:solidFill>
                <a:latin typeface="宋体"/>
                <a:ea typeface="宋体"/>
              </a:rPr>
              <a:t>EHEA「目前有大质量问题」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1773936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9/23 出货计划备注，涉 PO 三单 562,077 件（9/28 发 281,038 件、10/5 发 281,039 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481328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件号、根因、影响批量、整改与复检安排均未落纸；一旦批量退货，Q3/Q4 收入与客户信任双损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14996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6B7280"/>
                </a:solidFill>
                <a:latin typeface="宋体"/>
                <a:ea typeface="宋体"/>
              </a:rPr>
              <a:t>动作：</a:t>
            </a:r>
            <a:r>
              <a:rPr sz="919" b="1">
                <a:solidFill>
                  <a:srgbClr val="E82127"/>
                </a:solidFill>
                <a:latin typeface="宋体"/>
                <a:ea typeface="宋体"/>
              </a:rPr>
              <a:t>今天查清并出书面结论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40864"/>
            <a:ext cx="1105509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340864"/>
            <a:ext cx="50292" cy="87782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487168"/>
            <a:ext cx="475488" cy="27432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14600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2450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1">
                <a:solidFill>
                  <a:srgbClr val="171A20"/>
                </a:solidFill>
                <a:latin typeface="宋体"/>
                <a:ea typeface="宋体"/>
              </a:rPr>
              <a:t>S56 价格已出、待客户签认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2743200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13 件、单车 16 件：套成本 13.9319 / 套含税 19.2886（毛利率 18.4%）；首单 7 行已回填 ¥23,239.66。⚠️ 表单合计行 15.9771/18.0542 未乘单车用量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450592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未经客户签认即无订单约束力；18.4% 低于此前 22.31% 报价口径，且 3 件负毛利/微利（C上吸音棉3 −22.1%、C下吸音棉1 −1.6%、C上吸音棉2 +1.8%）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46888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6B7280"/>
                </a:solidFill>
                <a:latin typeface="宋体"/>
                <a:ea typeface="宋体"/>
              </a:rPr>
              <a:t>动作：</a:t>
            </a:r>
            <a:r>
              <a:rPr sz="919" b="1">
                <a:solidFill>
                  <a:srgbClr val="B46A00"/>
                </a:solidFill>
                <a:latin typeface="宋体"/>
                <a:ea typeface="宋体"/>
              </a:rPr>
              <a:t>本周内取得签认，同时提报 3 件低毛利件的工艺降本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310128"/>
            <a:ext cx="1105509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310128"/>
            <a:ext cx="50292" cy="8778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456432"/>
            <a:ext cx="475488" cy="274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83864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341985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1">
                <a:solidFill>
                  <a:srgbClr val="171A20"/>
                </a:solidFill>
                <a:latin typeface="宋体"/>
                <a:ea typeface="宋体"/>
              </a:rPr>
              <a:t>ROX01 定点价已下、合同与账期未落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3712464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4 件含税 0.70/1.30/0.30/0.08，套含税 4.10、毛利率 11.0%；年量 12,000 套、年产值 4.35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3419856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毛利率仅 11%，且无合同与账期（90 天承兑）文本；Q3 已交 29,500 件、0.78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43814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6B7280"/>
                </a:solidFill>
                <a:latin typeface="宋体"/>
                <a:ea typeface="宋体"/>
              </a:rPr>
              <a:t>动作：</a:t>
            </a:r>
            <a:r>
              <a:rPr sz="919" b="1">
                <a:solidFill>
                  <a:srgbClr val="6B7280"/>
                </a:solidFill>
                <a:latin typeface="宋体"/>
                <a:ea typeface="宋体"/>
              </a:rPr>
              <a:t>补合同与账期确认，按定点价对账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279392"/>
            <a:ext cx="1105509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279392"/>
            <a:ext cx="50292" cy="87782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425696"/>
            <a:ext cx="475488" cy="274320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53128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" y="43891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1">
                <a:solidFill>
                  <a:srgbClr val="171A20"/>
                </a:solidFill>
                <a:latin typeface="宋体"/>
                <a:ea typeface="宋体"/>
              </a:rPr>
              <a:t>ZH5EM 10 件供应商全「待定」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681728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8/27 定点后外协询价/送样启动，采购未确认（暂用宁波互盛、惠州兰谷）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8928" y="4389120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影响 OTS 与量产爬坡；供应商未定则成本与交期都不可控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4407407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6B7280"/>
                </a:solidFill>
                <a:latin typeface="宋体"/>
                <a:ea typeface="宋体"/>
              </a:rPr>
              <a:t>动作：</a:t>
            </a:r>
            <a:r>
              <a:rPr sz="919" b="1">
                <a:solidFill>
                  <a:srgbClr val="B46A00"/>
                </a:solidFill>
                <a:latin typeface="宋体"/>
                <a:ea typeface="宋体"/>
              </a:rPr>
              <a:t>催采购确认并锁定样品来源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248656"/>
            <a:ext cx="1105509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248656"/>
            <a:ext cx="50292" cy="87782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5394960"/>
            <a:ext cx="475488" cy="274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422392"/>
            <a:ext cx="47548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4168" y="53583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1">
                <a:solidFill>
                  <a:srgbClr val="171A20"/>
                </a:solidFill>
                <a:latin typeface="宋体"/>
                <a:ea typeface="宋体"/>
              </a:rPr>
              <a:t>项目数据口径待统一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50992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宋体"/>
                <a:ea typeface="宋体"/>
              </a:rPr>
              <a:t>项目表零件数合计 108，明细表 91（VFe32-3M 胶带 16 件、BS5PR 1 件无明细行）；S56 已取消件 51-12723 仍在明细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8928" y="5358384"/>
            <a:ext cx="397763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171A20"/>
                </a:solidFill>
                <a:latin typeface="宋体"/>
                <a:ea typeface="宋体"/>
              </a:rPr>
              <a:t>汇报与看板数字不一致，对外易被抓口径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537667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6B7280"/>
                </a:solidFill>
                <a:latin typeface="宋体"/>
                <a:ea typeface="宋体"/>
              </a:rPr>
              <a:t>动作：</a:t>
            </a:r>
            <a:r>
              <a:rPr sz="919" b="1">
                <a:solidFill>
                  <a:srgbClr val="6B7280"/>
                </a:solidFill>
                <a:latin typeface="宋体"/>
                <a:ea typeface="宋体"/>
              </a:rPr>
              <a:t>下版统一：明细为准或补齐明细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三季度推进中的难点与我的处理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4 个卡点：3 个已解决，1 个仍待拍板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solidFill>
            <a:srgbClr val="17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53896"/>
            <a:ext cx="92354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卡点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453896"/>
            <a:ext cx="302666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现象（事实）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453896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影响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1453896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我的处理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6688" y="1453896"/>
            <a:ext cx="1508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宋体"/>
                <a:ea typeface="宋体"/>
              </a:rPr>
              <a:t>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37360"/>
            <a:ext cx="11055096" cy="960119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737360"/>
            <a:ext cx="1051560" cy="960119"/>
          </a:xfrm>
          <a:prstGeom prst="rect">
            <a:avLst/>
          </a:prstGeom>
          <a:solidFill>
            <a:srgbClr val="FD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1737360"/>
            <a:ext cx="45720" cy="960119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011679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2127"/>
                </a:solidFill>
                <a:latin typeface="宋体"/>
                <a:ea typeface="宋体"/>
              </a:rPr>
              <a:t>报价权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1847088"/>
            <a:ext cx="300837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10/13 内部回复：设备无法满足自制，需外协报价与总成报价同步；并称「报价方式无需销售过问，内部综合评估好后由财务输出给销售」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1847088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销售对客户是唯一口径责任人：价格不是自己出的，既解释不了、也担不起报错责任；外协价含毛利+三项费用，不能当自制成本基准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1847088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书面回复不接受：这两个零件要「自制口径」；外协只作参考且须脱敏；坚持三权——口径确认权、过程稿抄送、报错责任归属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1847088"/>
            <a:ext cx="1490472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E82127"/>
                </a:solidFill>
                <a:latin typeface="宋体"/>
                <a:ea typeface="宋体"/>
              </a:rPr>
              <a:t>当天 16:53 拿到自制成本表（未加利润），10/16 按期交付客户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88920"/>
            <a:ext cx="11055096" cy="960119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788920"/>
            <a:ext cx="1051560" cy="960119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788920"/>
            <a:ext cx="45720" cy="960119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063239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B46A00"/>
                </a:solidFill>
                <a:latin typeface="宋体"/>
                <a:ea typeface="宋体"/>
              </a:rPr>
              <a:t>外协范围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928" y="2898648"/>
            <a:ext cx="300837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报价申请同时发给外协，未界定是「整个总成」还是「BOM 子零件」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2898648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范围不清价格不可比；把总成 BOM 与年量交出去，等于项目信息外泄、引入竞争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2898648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先问清范围再外协；外协只给单件信息，不给总成/项目/年量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2898648"/>
            <a:ext cx="1490472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B46A00"/>
                </a:solidFill>
                <a:latin typeface="宋体"/>
                <a:ea typeface="宋体"/>
              </a:rPr>
              <a:t>明确以自制为主口径，外协仅参考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840479"/>
            <a:ext cx="11055096" cy="960119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840479"/>
            <a:ext cx="1051560" cy="960119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840479"/>
            <a:ext cx="45720" cy="960119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4114799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宋体"/>
                <a:ea typeface="宋体"/>
              </a:rPr>
              <a:t>流程卡点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9928" y="3950207"/>
            <a:ext cx="300837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9/30 拟好的《10/18–19 会议确认函》至今仍在草稿箱，无人拍板发出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3950207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会议的时间、参会人、议题都无书面确认，会后口径容易反复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3950207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文本已备好待发，需上级确认后由销售发出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3950207"/>
            <a:ext cx="1490472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1D4ED8"/>
                </a:solidFill>
                <a:latin typeface="宋体"/>
                <a:ea typeface="宋体"/>
              </a:rPr>
              <a:t>待拍板（P0）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892040"/>
            <a:ext cx="11055096" cy="960119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892040"/>
            <a:ext cx="1051560" cy="960119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892040"/>
            <a:ext cx="45720" cy="9601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5166359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280"/>
                </a:solidFill>
                <a:latin typeface="宋体"/>
                <a:ea typeface="宋体"/>
              </a:rPr>
              <a:t>客户侧倒挂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9928" y="5001768"/>
            <a:ext cx="300837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S56 首单 12,040 件单价为 0 即下单；ROX01 先交付后定价；EHEA 排产后出现「大质量问题」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8" y="5001768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收入确认与对账被动，季度数字需要反复修订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5001768"/>
            <a:ext cx="2459736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171A20"/>
                </a:solidFill>
                <a:latin typeface="宋体"/>
                <a:ea typeface="宋体"/>
              </a:rPr>
              <a:t>按可核数量交付，价格与质量书面闭环后再确认收入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6688" y="5001768"/>
            <a:ext cx="1490472" cy="7772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6B7280"/>
                </a:solidFill>
                <a:latin typeface="宋体"/>
                <a:ea typeface="宋体"/>
              </a:rPr>
              <a:t>S56、ROX01 已定价；EHEA 本周闭环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980176"/>
            <a:ext cx="11055096" cy="566928"/>
          </a:xfrm>
          <a:prstGeom prst="rect">
            <a:avLst/>
          </a:prstGeom>
          <a:solidFill>
            <a:srgbClr val="FDE9EA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71616"/>
            <a:ext cx="10597896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1">
                <a:solidFill>
                  <a:srgbClr val="E82127"/>
                </a:solidFill>
                <a:latin typeface="宋体"/>
                <a:ea typeface="宋体"/>
              </a:rPr>
              <a:t>我的立场：</a:t>
            </a:r>
            <a:r>
              <a:rPr sz="960" b="0">
                <a:solidFill>
                  <a:srgbClr val="171A20"/>
                </a:solidFill>
                <a:latin typeface="宋体"/>
                <a:ea typeface="宋体"/>
              </a:rPr>
              <a:t>对外报价必须由销售对口径负责。内部可以提供成本、可以参与评估，但不能替代销售定价与对外承诺——否则出了错，没人能对客户交代。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0624"/>
            <a:ext cx="86868" cy="402336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365760"/>
            <a:ext cx="1078077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1A20"/>
                </a:solidFill>
                <a:latin typeface="宋体"/>
                <a:ea typeface="宋体"/>
              </a:rPr>
              <a:t>四季度计划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22960"/>
            <a:ext cx="107807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宋体"/>
                <a:ea typeface="宋体"/>
              </a:rPr>
              <a:t>按优先级：P0 = 不解决就影响收入或交付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宋体"/>
                <a:ea typeface="宋体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宋体"/>
                <a:ea typeface="宋体"/>
              </a:rPr>
              <a:t>常州臻畅汽车配件有限公司 · 上海泰瑞电子科技有限公司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17320"/>
            <a:ext cx="11055096" cy="603504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17320"/>
            <a:ext cx="914400" cy="603504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00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宋体"/>
                <a:ea typeface="宋体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149961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71A20"/>
                </a:solidFill>
                <a:latin typeface="宋体"/>
                <a:ea typeface="宋体"/>
              </a:rPr>
              <a:t>EHEA 质量闭环与交付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1508760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查清问题件号与批次 → 出整改/复检方案 → 保 10/5 前 281,039 件交付；对客户书面反馈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093976"/>
            <a:ext cx="11055096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093976"/>
            <a:ext cx="914400" cy="603504"/>
          </a:xfrm>
          <a:prstGeom prst="rect">
            <a:avLst/>
          </a:prstGeom>
          <a:solidFill>
            <a:srgbClr val="E8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7685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宋体"/>
                <a:ea typeface="宋体"/>
              </a:rPr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21762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71A20"/>
                </a:solidFill>
                <a:latin typeface="宋体"/>
                <a:ea typeface="宋体"/>
              </a:rPr>
              <a:t>S56 价格签认与排产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2185416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取得客户对 13 件单价的签认 → 首单 PO 生效 → 刀模排版/打样确认 → 备料排产；同步启动 3 件低毛利件降本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70632"/>
            <a:ext cx="11055096" cy="603504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770632"/>
            <a:ext cx="914400" cy="60350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953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宋体"/>
                <a:ea typeface="宋体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28529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71A20"/>
                </a:solidFill>
                <a:latin typeface="宋体"/>
                <a:ea typeface="宋体"/>
              </a:rPr>
              <a:t>ZH5EM、SHD 供应商与 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2862072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锁定泡棉/塔扣供应商 → 完成 OTS 测试 → 建立 CAMDS 与量产文件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447288"/>
            <a:ext cx="11055096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47288"/>
            <a:ext cx="914400" cy="60350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630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宋体"/>
                <a:ea typeface="宋体"/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928" y="352958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71A20"/>
                </a:solidFill>
                <a:latin typeface="宋体"/>
                <a:ea typeface="宋体"/>
              </a:rPr>
              <a:t>ROX01 合同与稳定交付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3538728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落合同与 90 天承兑账期 → 与已交付 29,500 件按定点价对账 → 稳定拉动（年 12,000 套）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123944"/>
            <a:ext cx="11055096" cy="603504"/>
          </a:xfrm>
          <a:prstGeom prst="rect">
            <a:avLst/>
          </a:prstGeom>
          <a:solidFill>
            <a:srgbClr val="FBFCFD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123944"/>
            <a:ext cx="914400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3068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宋体"/>
                <a:ea typeface="宋体"/>
              </a:rPr>
              <a:t>P2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9928" y="42062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71A20"/>
                </a:solidFill>
                <a:latin typeface="宋体"/>
                <a:ea typeface="宋体"/>
              </a:rPr>
              <a:t>T12T 核价、BS5PR 报价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215384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T12T 最后一轮核价（SOP 2027.3）；BS5PR 取对方目标价后出报价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00600"/>
            <a:ext cx="11055096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800600"/>
            <a:ext cx="914400" cy="60350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983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宋体"/>
                <a:ea typeface="宋体"/>
              </a:rPr>
              <a:t>P3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9928" y="488289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71A20"/>
                </a:solidFill>
                <a:latin typeface="宋体"/>
                <a:ea typeface="宋体"/>
              </a:rPr>
              <a:t>新机会与海外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4892040"/>
            <a:ext cx="59436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6B7280"/>
                </a:solidFill>
                <a:latin typeface="宋体"/>
                <a:ea typeface="宋体"/>
              </a:rPr>
              <a:t>VFe32-3M 小样 20 片；CX835 等车型量；上汽越南 AS5PM-X1（10/18–19 会议，四季度出顶棚工艺与投资方案）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550408"/>
            <a:ext cx="11055096" cy="713232"/>
          </a:xfrm>
          <a:prstGeom prst="rect">
            <a:avLst/>
          </a:prstGeom>
          <a:solidFill>
            <a:srgbClr val="FDE9EA"/>
          </a:solidFill>
          <a:ln w="1143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5641848"/>
            <a:ext cx="1050645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2127"/>
                </a:solidFill>
                <a:latin typeface="宋体"/>
                <a:ea typeface="宋体"/>
              </a:rPr>
              <a:t>一句话总结：</a:t>
            </a:r>
            <a:r>
              <a:rPr sz="1050" b="0">
                <a:solidFill>
                  <a:srgbClr val="171A20"/>
                </a:solidFill>
                <a:latin typeface="宋体"/>
                <a:ea typeface="宋体"/>
              </a:rPr>
              <a:t>三季度把「定点」做出来了（4 个），四季度要把「钱」做出来 —— 先解决 EHEA 质量与 S56 定价两个 P0，其余按节奏推进。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