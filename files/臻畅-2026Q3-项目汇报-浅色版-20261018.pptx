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874519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2127"/>
                </a:solidFill>
                <a:latin typeface="Arial"/>
                <a:ea typeface="微软雅黑"/>
              </a:rPr>
              <a:t>2026 Q3 · BUSINESS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33172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171A20"/>
                </a:solidFill>
                <a:latin typeface="微软雅黑"/>
                <a:ea typeface="微软雅黑"/>
              </a:rPr>
              <a:t>三季度项目汇报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项目全景 · 定点与量产 · 订单交付 · 风险与四季度计划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4133087"/>
            <a:ext cx="822960" cy="41148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370832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20"/>
                </a:solidFill>
                <a:latin typeface="微软雅黑"/>
                <a:ea typeface="微软雅黑"/>
              </a:rPr>
              <a:t>汇报人：曹旭锋（Zane）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2026 年 10 月 18 日     ｜     数据口径：三季度（7/1–9/30）未税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一页看懂三季度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13 个项目在管：量产 6 · 已定点 2 · OTS 1 · 推进中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2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89888"/>
            <a:ext cx="50292" cy="1298448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1A20"/>
                </a:solidFill>
                <a:latin typeface="Arial"/>
                <a:ea typeface="微软雅黑"/>
              </a:rPr>
              <a:t>13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在管项目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量产6·定点2·OTS1·推进4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338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33828" y="1389888"/>
            <a:ext cx="50292" cy="129844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349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A34A"/>
                </a:solidFill>
                <a:latin typeface="Arial"/>
                <a:ea typeface="微软雅黑"/>
              </a:rPr>
              <a:t>4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49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新增定点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49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ZH5EM·SHD·ROX MY26·S56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07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00728" y="1389888"/>
            <a:ext cx="50292" cy="129844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18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A34A"/>
                </a:solidFill>
                <a:latin typeface="Arial"/>
                <a:ea typeface="微软雅黑"/>
              </a:rPr>
              <a:t>2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18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新增 SOP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18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VFe32 7/31·BC03 8/3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676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7628" y="1389888"/>
            <a:ext cx="50292" cy="1298448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87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1A20"/>
                </a:solidFill>
                <a:latin typeface="Arial"/>
                <a:ea typeface="微软雅黑"/>
              </a:rPr>
              <a:t>91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在册零件（明细）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自制+外协，供应商可追溯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7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7" y="1389888"/>
            <a:ext cx="50292" cy="129844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5695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4ED8"/>
                </a:solidFill>
                <a:latin typeface="Arial"/>
                <a:ea typeface="微软雅黑"/>
              </a:rPr>
              <a:t>916,915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695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订单数量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5695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98 行 PO / 7 个件号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01427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01427" y="1389888"/>
            <a:ext cx="50292" cy="1298448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02595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E82127"/>
                </a:solidFill>
                <a:latin typeface="Arial"/>
                <a:ea typeface="微软雅黑"/>
              </a:rPr>
              <a:t>40.18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万元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02595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订单含税金额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2595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含 S56 首单 2.32 万（10/18 定价）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2962656"/>
            <a:ext cx="3563112" cy="2331720"/>
          </a:xfrm>
          <a:prstGeom prst="rect">
            <a:avLst/>
          </a:prstGeom>
          <a:solidFill>
            <a:srgbClr val="E7F6EC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2962656"/>
            <a:ext cx="3563112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最大成果：Q3 拿下 4 个定点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ZH5EM（上汽前舱储物盒 10 件）、SHD（上汽毛毡 1 件）、ROX MY26（极石端盖 2 件）、S56（奇瑞 X3/X3L 吸音棉 14 件）。其中 S56 年均 5 万套、EOP 2029.12，是明年主要增量。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12920" y="2962656"/>
            <a:ext cx="3563112" cy="2331720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2920" y="2962656"/>
            <a:ext cx="3563112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50664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收入结构：仍高度集中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0664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LEV1 17.97 万（44.7%）+ VFe32 9.88 万（24.6%）= 69.3%；EHEA 7.77 万（19.3%）已开始批量，S56 定价后进账 2.32 万（5.8%）。三者合计 93.6%。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58911" y="2962656"/>
            <a:ext cx="3563112" cy="2331720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58911" y="2962656"/>
            <a:ext cx="3563112" cy="45720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96655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最大隐患：EHEA 质量 + ROX01 定价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6655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EHEA 9/23 出货排定备注「目前有大质量问题」，涉 562,077 件；ROX01 已切换交付 6,500 件但售价仍未定。S56 已于 10/18 定价、待客户签认。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四个新定点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全部在三季度内落地：8/27 两个、9/1 一个、9/16 一个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3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89888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72768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ZH5EM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6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凯华 → 上汽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58568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前舱储物盒 · 10 件（8 泡棉 + 2 蘑菇塔扣）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24328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8/27 客户定点；外协询价与送样启动（泡棉-宁波互盛、塔扣-惠州兰谷）；项目经理陈阳已建 CAMDS 零件信息；供应商待采购确认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4548" y="15910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2026-08-27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4204" y="1389888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4204" y="1389888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0236" y="1572768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SHD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0236" y="1956816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凯华 → 上汽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0236" y="2258568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密封板毛毡 · 1 件（12478375-1）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0236" y="2624328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8/27 客户定点；OTS 250 套样品已完成送样；正在排测试计划，待内部安排测试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21824" y="15910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2026-08-27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785616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3785616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68496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ROX MY26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352544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浙江凯华 → 极石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54296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左右端盖板吸音棉 · 2 件（15200958AA / 15200961AA）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020056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9/1 内部定点：左 0.3097 / 右 0.3009 未税，利润率 12.83% / 23.56%；自制·上海泰瑞，11 月开始 SOP 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4548" y="39867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2026-09-01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4204" y="3785616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4204" y="3785616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0236" y="3968496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0236" y="4352544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浙江凯华 → 奇瑞 X3/X3L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0236" y="4654296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PP/PET 吸音棉 · 14 件（51-12723 已取消，实际 13 件）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0236" y="5020056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9/16 内部定点：年均 5 万套、EOP 2029.12；报价按统一毛利率 22.31%（年净利约 20 万）；9/18 已出 5 个件号共 25 件样品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21824" y="39867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2026-09-16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量产项目：6 个（Q3 订单主体）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内部状态「交付量产」= 是：BC03、LEV1；否：VFe32、S56、EHEA、ROX01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4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11055096" cy="402336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81328"/>
            <a:ext cx="9692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项目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1481328"/>
            <a:ext cx="10241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1481328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车型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4813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零件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1481328"/>
            <a:ext cx="78638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交付量产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4813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Q3 订单(含税)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7" y="1481328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占比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1481328"/>
            <a:ext cx="33558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Q3 关键动作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792224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1938528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BC03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1938528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62656" y="1938528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VINFAST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1938528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1938528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6A34A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938528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14,164.80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7" y="1938528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3.7%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1938528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8/3 SOP；合同确认、对账开票中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414016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560320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LEV1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92224" y="2560320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2656" y="2560320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VF-LIMO7 RHD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0288" y="2560320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93792" y="2560320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6A34A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560320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179,659.14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7" y="2560320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47.5%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9" y="2560320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量产对账；四件诚丰外协 + 挡脚板泰瑞自制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035808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3182112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VFe32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92224" y="3182112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62656" y="3182112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VINFAST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0288" y="3182112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93792" y="3182112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3182112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98,826.72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16367" y="3182112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26.1%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599" y="3182112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7/31 切换件 SOP；9/4 叫停 9/20 已解除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3657600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6656" y="3803904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92224" y="3803904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浙江凯华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803904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奇瑞 X3/X3L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90288" y="3803904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93792" y="3803904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3803904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23,239.66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16367" y="3803904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5.8%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599" y="3803904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9/16 定点；10/18 价格已出（毛利率18.9%）；首单已定价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279392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6656" y="4425696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EHEA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92224" y="4425696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62656" y="4425696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海豹06GT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90288" y="4425696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93792" y="4425696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425696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77,697.31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16367" y="4425696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20.5%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599" y="4425696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样品认证合格；562,077 件分 9/28、10/5 两批交付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4901183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6656" y="5047488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92224" y="5047488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62656" y="5047488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极石01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90288" y="5047488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3792" y="5047488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5047488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7,830.00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16367" y="5047488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599" y="5047488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已切换交付 6,500 件；⚠️ 售价未确定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5650991"/>
            <a:ext cx="110550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注：订单金额取看板 PO 台账按 PO 日期 7/1–9/30 汇总（98 行 / 916,915 件 / 含税 ¥378,522.97）。S56 首单 PO4500127228 共 7 行、12,040 件已按 10/18 价格表回填含税 ¥23,239.66。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推进中：4 个项目（四季度增量来源）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OTS 1 个单列：ROX MY26 已定点、11 月 SOP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5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81328"/>
            <a:ext cx="2640330" cy="457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T12T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奇瑞 QQ5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10 件（吸音棉 7 + 毛毡 3）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成本表已出并报价凯华，等待最后一轮核价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SOP 2027.3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8578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8578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B46A00"/>
                </a:solidFill>
                <a:latin typeface="微软雅黑"/>
                <a:ea typeface="微软雅黑"/>
              </a:rPr>
              <a:t>核价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71850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1850" y="1481328"/>
            <a:ext cx="2640330" cy="457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73018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CX835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3018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长安福特烈马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4 件吸音棉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73018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3018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8/26 客户询价、内部启动；车型暂无量，暂缓推进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3018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等技术要求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43500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43500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6B7280"/>
                </a:solidFill>
                <a:latin typeface="微软雅黑"/>
                <a:ea typeface="微软雅黑"/>
              </a:rPr>
              <a:t>暂缓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6772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6772" y="1481328"/>
            <a:ext cx="2640330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7940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VFe32-3M 胶带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7940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VINFAST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3M 海绵胶 16 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7940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7940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7/28 图纸已收到；准备供小样 20 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小样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48422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48422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D4ED8"/>
                </a:solidFill>
                <a:latin typeface="微软雅黑"/>
                <a:ea typeface="微软雅黑"/>
              </a:rPr>
              <a:t>送样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81694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81694" y="1481328"/>
            <a:ext cx="2640330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2862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BS5PR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2862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海泰 → 智己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泡棉定位销 1 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82862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82862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10/10 发起定点询价；10/13 内部完成成本核算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2862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获取对方目标价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753344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53344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D4ED8"/>
                </a:solidFill>
                <a:latin typeface="微软雅黑"/>
                <a:ea typeface="微软雅黑"/>
              </a:rPr>
              <a:t>报价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956048"/>
            <a:ext cx="11055096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判断：</a:t>
            </a: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四个项目都还停在「报价/核价/送样」段，Q3 未产生收入。T12T 与 BS5PR 最接近落地（均已报价或完成成本核算），CX835 因车型无量建议降优先级。VFe32-3M 胶带是现有客户内的品类扩展，样品阶段成本低、值得推。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大事记（7–9 月，节选 10 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完整 36 条见《臻畅-2026Q3-项目汇总-20261018.xlsx》「03_Q3大事记」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6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2048256" y="1563624"/>
            <a:ext cx="20116" cy="4375404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43560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07-15</a:t>
            </a:r>
          </a:p>
        </p:txBody>
      </p:sp>
      <p:sp>
        <p:nvSpPr>
          <p:cNvPr id="11" name="Oval 10"/>
          <p:cNvSpPr/>
          <p:nvPr/>
        </p:nvSpPr>
        <p:spPr>
          <a:xfrm>
            <a:off x="1984248" y="152704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0008" y="141732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VFe32 客户定点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1566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07-31</a:t>
            </a:r>
          </a:p>
        </p:txBody>
      </p:sp>
      <p:sp>
        <p:nvSpPr>
          <p:cNvPr id="14" name="Oval 13"/>
          <p:cNvSpPr/>
          <p:nvPr/>
        </p:nvSpPr>
        <p:spPr>
          <a:xfrm>
            <a:off x="1984248" y="200710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0008" y="189738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VFe32 SOP 量产（切换件）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3957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08-03</a:t>
            </a:r>
          </a:p>
        </p:txBody>
      </p:sp>
      <p:sp>
        <p:nvSpPr>
          <p:cNvPr id="17" name="Oval 16"/>
          <p:cNvSpPr/>
          <p:nvPr/>
        </p:nvSpPr>
        <p:spPr>
          <a:xfrm>
            <a:off x="1984248" y="248716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0008" y="237744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BC03 SOP 量产，首批 248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8757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08-20</a:t>
            </a:r>
          </a:p>
        </p:txBody>
      </p:sp>
      <p:sp>
        <p:nvSpPr>
          <p:cNvPr id="20" name="Oval 19"/>
          <p:cNvSpPr/>
          <p:nvPr/>
        </p:nvSpPr>
        <p:spPr>
          <a:xfrm>
            <a:off x="1984248" y="296722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285750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ROX01 客户询价，内部启动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08-27</a:t>
            </a:r>
          </a:p>
        </p:txBody>
      </p:sp>
      <p:sp>
        <p:nvSpPr>
          <p:cNvPr id="23" name="Oval 22"/>
          <p:cNvSpPr/>
          <p:nvPr/>
        </p:nvSpPr>
        <p:spPr>
          <a:xfrm>
            <a:off x="1984248" y="344728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50008" y="333756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ZH5EM、SHD 同日定点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835907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09-01</a:t>
            </a:r>
          </a:p>
        </p:txBody>
      </p:sp>
      <p:sp>
        <p:nvSpPr>
          <p:cNvPr id="26" name="Oval 25"/>
          <p:cNvSpPr/>
          <p:nvPr/>
        </p:nvSpPr>
        <p:spPr>
          <a:xfrm>
            <a:off x="1984248" y="392734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50008" y="381762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ROX MY26 内部定点（左 0.3097 / 右 0.3009 未税）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31596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09-12</a:t>
            </a:r>
          </a:p>
        </p:txBody>
      </p:sp>
      <p:sp>
        <p:nvSpPr>
          <p:cNvPr id="29" name="Oval 28"/>
          <p:cNvSpPr/>
          <p:nvPr/>
        </p:nvSpPr>
        <p:spPr>
          <a:xfrm>
            <a:off x="1984248" y="440740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0008" y="429768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EHEA 样品认证合格，启动拉动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7960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09-16</a:t>
            </a:r>
          </a:p>
        </p:txBody>
      </p:sp>
      <p:sp>
        <p:nvSpPr>
          <p:cNvPr id="32" name="Oval 31"/>
          <p:cNvSpPr/>
          <p:nvPr/>
        </p:nvSpPr>
        <p:spPr>
          <a:xfrm>
            <a:off x="1984248" y="488746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0008" y="477774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S56 内部定点：14 件 / 年均 5 万套 / EOP 2029.12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276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09-18</a:t>
            </a:r>
          </a:p>
        </p:txBody>
      </p:sp>
      <p:sp>
        <p:nvSpPr>
          <p:cNvPr id="35" name="Oval 34"/>
          <p:cNvSpPr/>
          <p:nvPr/>
        </p:nvSpPr>
        <p:spPr>
          <a:xfrm>
            <a:off x="1984248" y="536752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525780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S56 5 个件号 25 件样品；51-12723 取消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7561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09-23</a:t>
            </a:r>
          </a:p>
        </p:txBody>
      </p:sp>
      <p:sp>
        <p:nvSpPr>
          <p:cNvPr id="38" name="Oval 37"/>
          <p:cNvSpPr/>
          <p:nvPr/>
        </p:nvSpPr>
        <p:spPr>
          <a:xfrm>
            <a:off x="1984248" y="5847588"/>
            <a:ext cx="182880" cy="182880"/>
          </a:xfrm>
          <a:prstGeom prst="ellipse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50008" y="573786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E82127"/>
                </a:solidFill>
                <a:latin typeface="微软雅黑"/>
                <a:ea typeface="微软雅黑"/>
              </a:rPr>
              <a:t>EHEA 562,077 件分批出货排定（⚠️ 大质量问题）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02367" y="1481328"/>
            <a:ext cx="1828800" cy="3246120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5248" y="1664208"/>
            <a:ext cx="150876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Q3 三个节点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新定点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4 个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新 SOP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2 个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节点总数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36 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订单结构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98 行 PO / 916,915 件 / 含税 ¥401,762.63（按 PO 日期 7/1–9/30）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7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1848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LEV1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27048" y="1572768"/>
            <a:ext cx="5486400" cy="21945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152704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179,659 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8308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87,498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30552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VFe32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27048" y="2084832"/>
            <a:ext cx="3017953" cy="21945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4729" y="203911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98,827 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229514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219,352 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42616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EHEA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27048" y="2596896"/>
            <a:ext cx="2372707" cy="21945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9483" y="2551176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77,697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280720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562,077 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15468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BC03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7048" y="3108960"/>
            <a:ext cx="432562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69338" y="306324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14,165 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319272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5,448 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27048" y="3621024"/>
            <a:ext cx="709688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46464" y="3575304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23,240 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7048" y="3831336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12,040 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17880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7048" y="4133087"/>
            <a:ext cx="239111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75887" y="40873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7,830 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434340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29,500 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690872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 MY26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27048" y="4645152"/>
            <a:ext cx="27432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64207" y="459943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345 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485546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1,000 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96528" y="1481328"/>
            <a:ext cx="2825496" cy="3566160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34272" y="1664208"/>
            <a:ext cx="2377440" cy="3200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171A20"/>
                </a:solidFill>
                <a:latin typeface="微软雅黑"/>
                <a:ea typeface="微软雅黑"/>
              </a:rPr>
              <a:t>三个事实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① 集中度极高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LEV1 + VFe32 = 27.85 万，占 69.3%。任一项目掉量，季度收入立刻失血。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② EHEA 量最大、额第三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562,077 件占总量 61%，但单价低（合计 7.77 万，单件约 0.14 元），是典型的走量件。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③ S56 已定价进账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10/18 价格表落地，首单 12,040 件计入 2.32 万；Q4 起按年均 5 万套放大。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6B7280"/>
                </a:solidFill>
                <a:latin typeface="微软雅黑"/>
                <a:ea typeface="微软雅黑"/>
              </a:rPr>
              <a:t>注：金额与数量取自看板 PO 台账（orders_data.json）按 PO 日期汇总；ROX MY26 为 OTS 阶段首批，量小。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问题与风险（按影响排序）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前三条需要在本周内闭环，否则影响四季度收入确认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8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71600"/>
            <a:ext cx="50292" cy="87782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517904"/>
            <a:ext cx="475488" cy="274320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4533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14813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EHEA「目前有大质量问题」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4168" y="1773936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9/23 出货计划备注，涉 PO 三单 562,077 件（9/28 发 281,038 件、10/5 发 281,039 件）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1481328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件号、根因、影响批量、整改与复检安排均未落纸；一旦批量退货，Q3/Q4 收入与客户信任双损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14996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E82127"/>
                </a:solidFill>
                <a:latin typeface="微软雅黑"/>
                <a:ea typeface="微软雅黑"/>
              </a:rPr>
              <a:t>今天查清并出书面结论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40864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340864"/>
            <a:ext cx="50292" cy="87782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2487168"/>
            <a:ext cx="475488" cy="2743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514600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24505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S56 价格已出、待客户签认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2743200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13 件定点单价合计 15.9771 未税 / 18.0542 含税（毛利率约 18.9%），首单 7 行已回填 ¥23,239.66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450592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价格未经客户签认即无订单约束力；18.9% 低于原测算 22.31%，且 3 件为负毛利/微利（C上吸音棉3 −22.1%、C下吸音棉1 −1.6%、C上吸音棉2 +1.8%）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4688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B46A00"/>
                </a:solidFill>
                <a:latin typeface="微软雅黑"/>
                <a:ea typeface="微软雅黑"/>
              </a:rPr>
              <a:t>本周内取得签认，同时提报 3 件低毛利件的工艺降本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310128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310128"/>
            <a:ext cx="50292" cy="87782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456432"/>
            <a:ext cx="475488" cy="2743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483864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4168" y="34198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ROX01 已交付但售价未定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4168" y="3712464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已切换交付 6,500 件（4,000/1,000/1,500），9/9 起批量交付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38928" y="3419856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交付在前、定价在后，越拖越难谈；季度收入按 0.78 万暂计，存在调整风险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3728" y="343814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B46A00"/>
                </a:solidFill>
                <a:latin typeface="微软雅黑"/>
                <a:ea typeface="微软雅黑"/>
              </a:rPr>
              <a:t>商务口径定档，与交付量对齐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279392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279392"/>
            <a:ext cx="50292" cy="87782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4425696"/>
            <a:ext cx="475488" cy="2743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4531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4168" y="4389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ZH5EM 10 件供应商全「待定」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44168" y="4681728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8/27 定点后外协询价/送样启动，采购未确认（暂用宁波互盛、惠州兰谷）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8928" y="4389120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影响 OTS 与量产爬坡；供应商未定则成本与交期都不可控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4407407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B46A00"/>
                </a:solidFill>
                <a:latin typeface="微软雅黑"/>
                <a:ea typeface="微软雅黑"/>
              </a:rPr>
              <a:t>催采购确认并锁定样品来源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5248656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5248656"/>
            <a:ext cx="50292" cy="87782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1520" y="5394960"/>
            <a:ext cx="475488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422392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4168" y="535838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项目数据口径待统一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44168" y="5650992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项目表零件数合计 108，明细表 91（VFe32-3M 胶带 16 件、BS5PR 1 件无明细行）；S56 已取消件 51-12723 仍在明细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38928" y="5358384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汇报与看板数字不一致，对外易被抓口径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3728" y="537667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6B7280"/>
                </a:solidFill>
                <a:latin typeface="微软雅黑"/>
                <a:ea typeface="微软雅黑"/>
              </a:rPr>
              <a:t>下版统一：明细为准或补齐明细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四季度计划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按优先级：P0 = 不解决就影响收入或交付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9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17320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17320"/>
            <a:ext cx="914400" cy="6035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6002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149961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EHEA 质量闭环与交付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1517904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查清问题件号与批次 → 出整改/复检方案 → 保 10/5 前 281,039 件交付；对客户书面反馈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93976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2093976"/>
            <a:ext cx="914400" cy="6035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27685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9928" y="21762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S56 价格签认与排产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21945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取得客户对 13 件单价的签认 → 首单 PO 生效 → 刀模排版/打样确认 → 备料排产；同步启动 3 件低毛利件降本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770632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770632"/>
            <a:ext cx="914400" cy="60350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953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28529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ZH5EM、SHD 供应商与 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2871216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锁定泡棉/塔扣供应商 → 完成 OTS 测试 → 建立 CAMDS 与量产文件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447288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47288"/>
            <a:ext cx="914400" cy="60350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6301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9928" y="352958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ROX01 定价与量产交付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96128" y="3547872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商务定档 → 与已交付 6,500 件对齐 → 稳定拉动与对账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123944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123944"/>
            <a:ext cx="914400" cy="6035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068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9928" y="4206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T12T 核价、BS5PR 报价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8" y="4224528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T12T 最后一轮核价（SOP 2027.3）；BS5PR 取对方目标价后出报价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800600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800600"/>
            <a:ext cx="914400" cy="60350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9834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09928" y="488289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新机会与海外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6128" y="4901184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VFe32-3M 小样 20 片；CX835 等车型量；上汽越南 AS5PM-X1（10/18–19 会议，四季度出顶棚工艺与投资方案）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5550408"/>
            <a:ext cx="11055096" cy="713232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" y="5641848"/>
            <a:ext cx="1050645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2127"/>
                </a:solidFill>
                <a:latin typeface="微软雅黑"/>
                <a:ea typeface="微软雅黑"/>
              </a:rPr>
              <a:t>一句话总结：</a:t>
            </a:r>
            <a:r>
              <a:rPr sz="1050" b="0">
                <a:solidFill>
                  <a:srgbClr val="171A20"/>
                </a:solidFill>
                <a:latin typeface="微软雅黑"/>
                <a:ea typeface="微软雅黑"/>
              </a:rPr>
              <a:t>三季度把「定点」做出来了（4 个），四季度要把「钱」做出来 —— 先解决 EHEA 质量与 S56 定价两个 P0，其余按节奏推进。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